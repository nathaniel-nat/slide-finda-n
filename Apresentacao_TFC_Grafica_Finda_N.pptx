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Sistema de Gestão para a Gráfica Finda 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Trabalho de Fim de Curso</a:t>
            </a:r>
          </a:p>
          <a:p>
            <a:r>
              <a:rPr sz="1800"/>
              <a:t>Curso Médio Técnico de Informática</a:t>
            </a:r>
          </a:p>
          <a:p>
            <a:r>
              <a:rPr sz="1800"/>
              <a:t>Instituto Médio Técnico Luíza Andaluz</a:t>
            </a:r>
          </a:p>
          <a:p>
            <a:r>
              <a:rPr sz="1800"/>
              <a:t>Orientador: Prof. Adriano Jacinto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Quem Somos e o Que Apresentamos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Trabalho de Fim de Curso — Curso Médio Técnico de Informática</a:t>
            </a:r>
          </a:p>
          <a:p>
            <a:pPr>
              <a:spcBef>
                <a:spcPts val="600"/>
              </a:spcBef>
            </a:pPr>
            <a:r>
              <a:rPr sz="1400"/>
              <a:t>Instituto Médio Técnico Luíza Andaluz</a:t>
            </a:r>
          </a:p>
          <a:p>
            <a:pPr>
              <a:spcBef>
                <a:spcPts val="600"/>
              </a:spcBef>
            </a:pPr>
            <a:r>
              <a:rPr sz="1400"/>
              <a:t>Tema: Sistema de Gestão para a Gráfica Finda N</a:t>
            </a:r>
          </a:p>
          <a:p>
            <a:pPr>
              <a:spcBef>
                <a:spcPts val="600"/>
              </a:spcBef>
            </a:pPr>
            <a:r>
              <a:rPr sz="1400"/>
              <a:t>Orientador: Prof. Adriano Jacinto</a:t>
            </a:r>
          </a:p>
          <a:p>
            <a:pPr>
              <a:spcBef>
                <a:spcPts val="600"/>
              </a:spcBef>
            </a:pPr>
            <a:r>
              <a:rPr sz="1400"/>
              <a:t>Equipa: 6 apresentadores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Conhecendo a Gráfica Finda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Localização: Rocha Pinto, Luanda</a:t>
            </a:r>
          </a:p>
          <a:p>
            <a:pPr>
              <a:spcBef>
                <a:spcPts val="600"/>
              </a:spcBef>
            </a:pPr>
            <a:r>
              <a:rPr sz="1400"/>
              <a:t>Inauguração: Março de 2025</a:t>
            </a:r>
          </a:p>
          <a:p>
            <a:pPr>
              <a:spcBef>
                <a:spcPts val="600"/>
              </a:spcBef>
            </a:pPr>
            <a:r>
              <a:rPr sz="1400"/>
              <a:t>Especialidade: Materiais impressos personalizados</a:t>
            </a:r>
          </a:p>
          <a:p>
            <a:pPr>
              <a:spcBef>
                <a:spcPts val="600"/>
              </a:spcBef>
            </a:pPr>
            <a:r>
              <a:rPr sz="1400"/>
              <a:t>Proprietário: Dr. Finda Henriques João Neto</a:t>
            </a:r>
          </a:p>
          <a:p>
            <a:pPr>
              <a:spcBef>
                <a:spcPts val="600"/>
              </a:spcBef>
            </a:pPr>
            <a:r>
              <a:rPr sz="1400"/>
              <a:t>Equipa: 3 funcionários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Processos manuais: pedidos em papel, estoque de memória</a:t>
            </a:r>
          </a:p>
          <a:p>
            <a:pPr>
              <a:spcBef>
                <a:spcPts val="600"/>
              </a:spcBef>
            </a:pPr>
            <a:r>
              <a:rPr sz="1400"/>
              <a:t>Informações frequentemente perdidas</a:t>
            </a:r>
          </a:p>
          <a:p>
            <a:pPr>
              <a:spcBef>
                <a:spcPts val="600"/>
              </a:spcBef>
            </a:pPr>
            <a:r>
              <a:rPr sz="1400"/>
              <a:t>Atrasos no atendimento ao cliente</a:t>
            </a:r>
          </a:p>
          <a:p>
            <a:pPr>
              <a:spcBef>
                <a:spcPts val="600"/>
              </a:spcBef>
            </a:pPr>
            <a:r>
              <a:rPr sz="1400"/>
              <a:t>Erros repetitivos e retrabalho constante</a:t>
            </a:r>
          </a:p>
          <a:p>
            <a:pPr>
              <a:spcBef>
                <a:spcPts val="600"/>
              </a:spcBef>
            </a:pPr>
            <a:r>
              <a:rPr sz="1400"/>
              <a:t>Pergunta: Como um sistema pode melhorar os serviços?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Objetivos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Geral: Desenvolver sistema de gestão para automatizar processos</a:t>
            </a:r>
          </a:p>
          <a:p>
            <a:pPr>
              <a:spcBef>
                <a:spcPts val="600"/>
              </a:spcBef>
            </a:pPr>
            <a:r>
              <a:rPr sz="1400"/>
              <a:t>Analisar processos atuais e identificar melhorias</a:t>
            </a:r>
          </a:p>
          <a:p>
            <a:pPr>
              <a:spcBef>
                <a:spcPts val="600"/>
              </a:spcBef>
            </a:pPr>
            <a:r>
              <a:rPr sz="1400"/>
              <a:t>Projetar arquitetura e interfaces do sistema</a:t>
            </a:r>
          </a:p>
          <a:p>
            <a:pPr>
              <a:spcBef>
                <a:spcPts val="600"/>
              </a:spcBef>
            </a:pPr>
            <a:r>
              <a:rPr sz="1400"/>
              <a:t>Desenvolver funcionalidades principais</a:t>
            </a:r>
          </a:p>
          <a:p>
            <a:pPr>
              <a:spcBef>
                <a:spcPts val="600"/>
              </a:spcBef>
            </a:pPr>
            <a:r>
              <a:rPr sz="1400"/>
              <a:t>Validar sistema com colaboradores da gráfica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O Que Esperávamos (Hipóteses)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Automatizar tarefas manuais (pedidos, estoque, relatórios)</a:t>
            </a:r>
          </a:p>
          <a:p>
            <a:pPr>
              <a:spcBef>
                <a:spcPts val="600"/>
              </a:spcBef>
            </a:pPr>
            <a:r>
              <a:rPr sz="1400"/>
              <a:t>Melhorar fluxo de trabalho entre setores</a:t>
            </a:r>
          </a:p>
          <a:p>
            <a:pPr>
              <a:spcBef>
                <a:spcPts val="600"/>
              </a:spcBef>
            </a:pPr>
            <a:r>
              <a:rPr sz="1400"/>
              <a:t>Aumentar produtividade e atendimento</a:t>
            </a:r>
          </a:p>
          <a:p>
            <a:pPr>
              <a:spcBef>
                <a:spcPts val="600"/>
              </a:spcBef>
            </a:pPr>
            <a:r>
              <a:rPr sz="1400"/>
              <a:t>Facilitar controle de estoque em tempo real</a:t>
            </a:r>
          </a:p>
          <a:p>
            <a:pPr>
              <a:spcBef>
                <a:spcPts val="600"/>
              </a:spcBef>
            </a:pPr>
            <a:r>
              <a:rPr sz="1400"/>
              <a:t>Reduzir erros operacionais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O Que É um Sistema de Gestão?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Recebe dados → processa → gera informação útil</a:t>
            </a:r>
          </a:p>
          <a:p>
            <a:pPr>
              <a:spcBef>
                <a:spcPts val="600"/>
              </a:spcBef>
            </a:pPr>
            <a:r>
              <a:rPr sz="1400"/>
              <a:t>Entrada: pedidos e materiais | Saída: produtos entregues</a:t>
            </a:r>
          </a:p>
          <a:p>
            <a:pPr>
              <a:spcBef>
                <a:spcPts val="600"/>
              </a:spcBef>
            </a:pPr>
            <a:r>
              <a:rPr sz="1400"/>
              <a:t>Feedback: avaliação do cliente</a:t>
            </a:r>
          </a:p>
          <a:p>
            <a:pPr>
              <a:spcBef>
                <a:spcPts val="600"/>
              </a:spcBef>
            </a:pPr>
            <a:r>
              <a:rPr sz="1400"/>
              <a:t>Permite planear, organizar, dirigir e controlar</a:t>
            </a:r>
          </a:p>
          <a:p>
            <a:pPr>
              <a:spcBef>
                <a:spcPts val="600"/>
              </a:spcBef>
            </a:pPr>
            <a:r>
              <a:rPr sz="1400"/>
              <a:t>Aumenta eficiência operacional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Por Que Tecnologias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21920">
                <a:tc>
                  <a:txBody>
                    <a:bodyPr/>
                    <a:lstStyle/>
                    <a:p>
                      <a:r>
                        <a:rPr sz="1400" b="1"/>
                        <a:t>Tecnologia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Função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HTML5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Estrutura das páginas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CSS3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Visual e design responsivo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Interatividade e dinamismo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Lógica do servidor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Armazenamento dos dados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23774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Acessível por qualquer computador com navegador — sem instalação complexa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A Gráfica Como Organização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Missão: Soluções gráficas inovadoras e de alta qualidade</a:t>
            </a:r>
          </a:p>
          <a:p>
            <a:pPr>
              <a:spcBef>
                <a:spcPts val="600"/>
              </a:spcBef>
            </a:pPr>
            <a:r>
              <a:rPr sz="1400"/>
              <a:t>Visão: Ser líder no mercado gráfico regional</a:t>
            </a:r>
          </a:p>
          <a:p>
            <a:pPr>
              <a:spcBef>
                <a:spcPts val="600"/>
              </a:spcBef>
            </a:pPr>
            <a:r>
              <a:rPr sz="1400"/>
              <a:t>Valores: Foco no cliente, qualidade e respeito pelo prazo</a:t>
            </a:r>
          </a:p>
          <a:p>
            <a:pPr>
              <a:spcBef>
                <a:spcPts val="600"/>
              </a:spcBef>
            </a:pPr>
            <a:r>
              <a:rPr sz="1400"/>
              <a:t>Compromisso com satisfação do cliente</a:t>
            </a:r>
          </a:p>
          <a:p>
            <a:pPr>
              <a:spcBef>
                <a:spcPts val="600"/>
              </a:spcBef>
            </a:pPr>
            <a:r>
              <a:rPr sz="1400"/>
              <a:t>Excelência em serviços impressos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Como Trabalhámos (Metodologia)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Pesquisa aplicada com abordagem qualitativa</a:t>
            </a:r>
          </a:p>
          <a:p>
            <a:pPr>
              <a:spcBef>
                <a:spcPts val="600"/>
              </a:spcBef>
            </a:pPr>
            <a:r>
              <a:rPr sz="1400"/>
              <a:t>Estudo de caso direto na Gráfica Finda N</a:t>
            </a:r>
          </a:p>
          <a:p>
            <a:pPr>
              <a:spcBef>
                <a:spcPts val="600"/>
              </a:spcBef>
            </a:pPr>
            <a:r>
              <a:rPr sz="1400"/>
              <a:t>Amostra: 3 participantes (proprietário + 2 funcionários)</a:t>
            </a:r>
          </a:p>
          <a:p>
            <a:pPr>
              <a:spcBef>
                <a:spcPts val="600"/>
              </a:spcBef>
            </a:pPr>
            <a:r>
              <a:rPr sz="1400"/>
              <a:t>Duração: 2 meses de pesquisa e desenvolvimento</a:t>
            </a:r>
          </a:p>
          <a:p>
            <a:pPr>
              <a:spcBef>
                <a:spcPts val="600"/>
              </a:spcBef>
            </a:pPr>
            <a:r>
              <a:rPr sz="1400"/>
              <a:t>Foco nas necessidades reais dos utilizadores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Como Recolhemos as Informações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Entrevistas semiestruturadas com proprietário e funcionários</a:t>
            </a:r>
          </a:p>
          <a:p>
            <a:pPr>
              <a:spcBef>
                <a:spcPts val="600"/>
              </a:spcBef>
            </a:pPr>
            <a:r>
              <a:rPr sz="1400"/>
              <a:t>Temas: fluxo atual, dificuldades, expectativas</a:t>
            </a:r>
          </a:p>
          <a:p>
            <a:pPr>
              <a:spcBef>
                <a:spcPts val="600"/>
              </a:spcBef>
            </a:pPr>
            <a:r>
              <a:rPr sz="1400"/>
              <a:t>Observação direta: 2 visitas de ~2 horas cada</a:t>
            </a:r>
          </a:p>
          <a:p>
            <a:pPr>
              <a:spcBef>
                <a:spcPts val="600"/>
              </a:spcBef>
            </a:pPr>
            <a:r>
              <a:rPr sz="1400"/>
              <a:t>Acompanhamento do processo completo</a:t>
            </a:r>
          </a:p>
          <a:p>
            <a:pPr>
              <a:spcBef>
                <a:spcPts val="600"/>
              </a:spcBef>
            </a:pPr>
            <a:r>
              <a:rPr sz="1400"/>
              <a:t>Identificação de gargalos e erros operacionais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As 5 Fases do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Levantamento de requisitos (entrevistas + observação)</a:t>
            </a:r>
          </a:p>
          <a:p>
            <a:pPr>
              <a:spcBef>
                <a:spcPts val="600"/>
              </a:spcBef>
            </a:pPr>
            <a:r>
              <a:rPr sz="1400"/>
              <a:t>2. Análise e definição de funcionalidades</a:t>
            </a:r>
          </a:p>
          <a:p>
            <a:pPr>
              <a:spcBef>
                <a:spcPts val="600"/>
              </a:spcBef>
            </a:pPr>
            <a:r>
              <a:rPr sz="1400"/>
              <a:t>3. Prototipagem no PowerPoint para validação</a:t>
            </a:r>
          </a:p>
          <a:p>
            <a:pPr>
              <a:spcBef>
                <a:spcPts val="600"/>
              </a:spcBef>
            </a:pPr>
            <a:r>
              <a:rPr sz="1400"/>
              <a:t>4. Desenvolvimento em HTML, CSS, JavaScript e PHP</a:t>
            </a:r>
          </a:p>
          <a:p>
            <a:pPr>
              <a:spcBef>
                <a:spcPts val="600"/>
              </a:spcBef>
            </a:pPr>
            <a:r>
              <a:rPr sz="1400"/>
              <a:t>5. Testes e validação com utilizadores reais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Dificuldades Encontradas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Informações desorganizadas na gráfica</a:t>
            </a:r>
          </a:p>
          <a:p>
            <a:pPr>
              <a:spcBef>
                <a:spcPts val="600"/>
              </a:spcBef>
            </a:pPr>
            <a:r>
              <a:rPr sz="1400"/>
              <a:t>Ausência de registo digital anterior</a:t>
            </a:r>
          </a:p>
          <a:p>
            <a:pPr>
              <a:spcBef>
                <a:spcPts val="600"/>
              </a:spcBef>
            </a:pPr>
            <a:r>
              <a:rPr sz="1400"/>
              <a:t>Tempo limitado para pesquisa</a:t>
            </a:r>
          </a:p>
          <a:p>
            <a:pPr>
              <a:spcBef>
                <a:spcPts val="600"/>
              </a:spcBef>
            </a:pPr>
            <a:r>
              <a:rPr sz="1400"/>
              <a:t>Resistência inicial em partilhar dados</a:t>
            </a:r>
          </a:p>
          <a:p>
            <a:pPr>
              <a:spcBef>
                <a:spcPts val="600"/>
              </a:spcBef>
            </a:pPr>
            <a:r>
              <a:rPr sz="1400"/>
              <a:t>Necessidade de adaptação contínua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Ferramentas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Editor: Visual Studio Code</a:t>
            </a:r>
          </a:p>
          <a:p>
            <a:pPr>
              <a:spcBef>
                <a:spcPts val="600"/>
              </a:spcBef>
            </a:pPr>
            <a:r>
              <a:rPr sz="1400"/>
              <a:t>Servidor local: XAMPP (Apache + MySQL + PHP)</a:t>
            </a:r>
          </a:p>
          <a:p>
            <a:pPr>
              <a:spcBef>
                <a:spcPts val="600"/>
              </a:spcBef>
            </a:pPr>
            <a:r>
              <a:rPr sz="1400"/>
              <a:t>Prototipagem: Microsoft PowerPoint</a:t>
            </a:r>
          </a:p>
          <a:p>
            <a:pPr>
              <a:spcBef>
                <a:spcPts val="600"/>
              </a:spcBef>
            </a:pPr>
            <a:r>
              <a:rPr sz="1400"/>
              <a:t>Todas gratuitas e de fácil instalação</a:t>
            </a:r>
          </a:p>
          <a:p>
            <a:pPr>
              <a:spcBef>
                <a:spcPts val="600"/>
              </a:spcBef>
            </a:pPr>
            <a:r>
              <a:rPr sz="1400"/>
              <a:t>Adequadas à realidade angolana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Arquitetura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Modelo Cliente-Servidor</a:t>
            </a:r>
          </a:p>
          <a:p>
            <a:pPr>
              <a:spcBef>
                <a:spcPts val="600"/>
              </a:spcBef>
            </a:pPr>
            <a:r>
              <a:rPr sz="1400"/>
              <a:t>Utilizador interage via navegador</a:t>
            </a:r>
          </a:p>
          <a:p>
            <a:pPr>
              <a:spcBef>
                <a:spcPts val="600"/>
              </a:spcBef>
            </a:pPr>
            <a:r>
              <a:rPr sz="1400"/>
              <a:t>Servidor processa pedidos e comunica com BD</a:t>
            </a:r>
          </a:p>
          <a:p>
            <a:pPr>
              <a:spcBef>
                <a:spcPts val="600"/>
              </a:spcBef>
            </a:pPr>
            <a:r>
              <a:rPr sz="1400"/>
              <a:t>Base de dados: 7 tabelas relacionais (3ª Forma Normal)</a:t>
            </a:r>
          </a:p>
          <a:p>
            <a:pPr>
              <a:spcBef>
                <a:spcPts val="600"/>
              </a:spcBef>
            </a:pPr>
            <a:r>
              <a:rPr sz="1400"/>
              <a:t>Tabela central: movimentos (atividade financeira)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/>
              <a:t>Ver Modelo Entidade-Relacionamento no próximo slide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Estrutura da Base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Produtos → ligados ao Stock → ligados às Encomendas</a:t>
            </a:r>
          </a:p>
          <a:p>
            <a:pPr>
              <a:spcBef>
                <a:spcPts val="600"/>
              </a:spcBef>
            </a:pPr>
            <a:r>
              <a:rPr sz="1400"/>
              <a:t>Movimentos centraliza: vendas, sessões, serviços</a:t>
            </a:r>
          </a:p>
          <a:p>
            <a:pPr>
              <a:spcBef>
                <a:spcPts val="600"/>
              </a:spcBef>
            </a:pPr>
            <a:r>
              <a:rPr sz="1400"/>
              <a:t>Jogos e Serviços alimentam movimentos financeiros</a:t>
            </a:r>
          </a:p>
          <a:p>
            <a:pPr>
              <a:spcBef>
                <a:spcPts val="600"/>
              </a:spcBef>
            </a:pPr>
            <a:r>
              <a:rPr sz="1400"/>
              <a:t>Normalização até 3ª Forma Normal</a:t>
            </a:r>
          </a:p>
          <a:p>
            <a:pPr>
              <a:spcBef>
                <a:spcPts val="600"/>
              </a:spcBef>
            </a:pPr>
            <a:r>
              <a:rPr sz="1400"/>
              <a:t>Relacionamentos bem definidos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/>
              <a:t>(Incluir imagem do Modelo Entidade-Relacionamento)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Visão Geral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Acesso por qualquer navegador, sem instalação</a:t>
            </a:r>
          </a:p>
          <a:p>
            <a:pPr>
              <a:spcBef>
                <a:spcPts val="600"/>
              </a:spcBef>
            </a:pPr>
            <a:r>
              <a:rPr sz="1400"/>
              <a:t>Interface em português, simples e intuitiva</a:t>
            </a:r>
          </a:p>
          <a:p>
            <a:pPr>
              <a:spcBef>
                <a:spcPts val="600"/>
              </a:spcBef>
            </a:pPr>
            <a:r>
              <a:rPr sz="1400"/>
              <a:t>Tempo de aprendizagem: &lt; 2 horas</a:t>
            </a:r>
          </a:p>
          <a:p>
            <a:pPr>
              <a:spcBef>
                <a:spcPts val="600"/>
              </a:spcBef>
            </a:pPr>
            <a:r>
              <a:rPr sz="1400"/>
              <a:t>Módulos: Dashboard, Produtos, Stock, Jogos</a:t>
            </a:r>
          </a:p>
          <a:p>
            <a:pPr>
              <a:spcBef>
                <a:spcPts val="600"/>
              </a:spcBef>
            </a:pPr>
            <a:r>
              <a:rPr sz="1400"/>
              <a:t>Módulos: Serviços, Encomendas, Movimentos, Relatórios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Dashboard — O Coração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Visão em tempo real do negócio</a:t>
            </a:r>
          </a:p>
          <a:p>
            <a:pPr>
              <a:spcBef>
                <a:spcPts val="600"/>
              </a:spcBef>
            </a:pPr>
            <a:r>
              <a:rPr sz="1400"/>
              <a:t>Receita do dia</a:t>
            </a:r>
          </a:p>
          <a:p>
            <a:pPr>
              <a:spcBef>
                <a:spcPts val="600"/>
              </a:spcBef>
            </a:pPr>
            <a:r>
              <a:rPr sz="1400"/>
              <a:t>Máquinas ocupadas vs. disponíveis</a:t>
            </a:r>
          </a:p>
          <a:p>
            <a:pPr>
              <a:spcBef>
                <a:spcPts val="600"/>
              </a:spcBef>
            </a:pPr>
            <a:r>
              <a:rPr sz="1400"/>
              <a:t>Encomendas pendentes</a:t>
            </a:r>
          </a:p>
          <a:p>
            <a:pPr>
              <a:spcBef>
                <a:spcPts val="600"/>
              </a:spcBef>
            </a:pPr>
            <a:r>
              <a:rPr sz="1400"/>
              <a:t>Produtos com stock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/>
              <a:t>(Incluir screenshot do Dashboard)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Funcionalidades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Gestão de Produtos &amp; Stock: alertas automáticos</a:t>
            </a:r>
          </a:p>
          <a:p>
            <a:pPr>
              <a:spcBef>
                <a:spcPts val="600"/>
              </a:spcBef>
            </a:pPr>
            <a:r>
              <a:rPr sz="1400"/>
              <a:t>Gestão de Jogos: temporizador em tempo real</a:t>
            </a:r>
          </a:p>
          <a:p>
            <a:pPr>
              <a:spcBef>
                <a:spcPts val="600"/>
              </a:spcBef>
            </a:pPr>
            <a:r>
              <a:rPr sz="1400"/>
              <a:t>Gestão de Encomendas: fluxo completo de status</a:t>
            </a:r>
          </a:p>
          <a:p>
            <a:pPr>
              <a:spcBef>
                <a:spcPts val="600"/>
              </a:spcBef>
            </a:pPr>
            <a:r>
              <a:rPr sz="1400"/>
              <a:t>Serviços rápidos: registo em &lt; 10 segundos</a:t>
            </a:r>
          </a:p>
          <a:p>
            <a:pPr>
              <a:spcBef>
                <a:spcPts val="600"/>
              </a:spcBef>
            </a:pPr>
            <a:r>
              <a:rPr sz="1400"/>
              <a:t>Movimentos Financeiros: livro de caixa digital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Resultados Concretos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21920">
                <a:tc>
                  <a:txBody>
                    <a:bodyPr/>
                    <a:lstStyle/>
                    <a:p>
                      <a:r>
                        <a:rPr sz="1400" b="1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Resultado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Tempo de venda de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 segundos / 3 cliques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Tempo de início de sessão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 segundos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Erros de cobrança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0% (cálculo automático)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Redução de tempo por transação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~40%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300"/>
                        <a:t>Tempo de carregamento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&lt; 2 segundos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O Que o Sistema Prova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Informatização viável para PMEs em Angola</a:t>
            </a:r>
          </a:p>
          <a:p>
            <a:pPr>
              <a:spcBef>
                <a:spcPts val="600"/>
              </a:spcBef>
            </a:pPr>
            <a:r>
              <a:rPr sz="1400"/>
              <a:t>Tecnologias simples criam soluções de qualidade</a:t>
            </a:r>
          </a:p>
          <a:p>
            <a:pPr>
              <a:spcBef>
                <a:spcPts val="600"/>
              </a:spcBef>
            </a:pPr>
            <a:r>
              <a:rPr sz="1400"/>
              <a:t>Planeamento cuidadoso é fundamental</a:t>
            </a:r>
          </a:p>
          <a:p>
            <a:pPr>
              <a:spcBef>
                <a:spcPts val="600"/>
              </a:spcBef>
            </a:pPr>
            <a:r>
              <a:rPr sz="1400"/>
              <a:t>Foco nas necessidades do utilizador &gt; tecnologia</a:t>
            </a:r>
          </a:p>
          <a:p>
            <a:pPr>
              <a:spcBef>
                <a:spcPts val="600"/>
              </a:spcBef>
            </a:pPr>
            <a:r>
              <a:rPr sz="1400"/>
              <a:t>Soluções locais podem ser eficazes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Limitações e Caminho à Frente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Senhas sem encriptação → implementar bcrypt</a:t>
            </a:r>
          </a:p>
          <a:p>
            <a:pPr>
              <a:spcBef>
                <a:spcPts val="600"/>
              </a:spcBef>
            </a:pPr>
            <a:r>
              <a:rPr sz="1400"/>
              <a:t>Um utilizador → múltiplos operadores com permissões</a:t>
            </a:r>
          </a:p>
          <a:p>
            <a:pPr>
              <a:spcBef>
                <a:spcPts val="600"/>
              </a:spcBef>
            </a:pPr>
            <a:r>
              <a:rPr sz="1400"/>
              <a:t>Relatórios básicos → exportação PDF/Excel</a:t>
            </a:r>
          </a:p>
          <a:p>
            <a:pPr>
              <a:spcBef>
                <a:spcPts val="600"/>
              </a:spcBef>
            </a:pPr>
            <a:r>
              <a:rPr sz="1400"/>
              <a:t>Sem backup automático → integrar agendamento</a:t>
            </a:r>
          </a:p>
          <a:p>
            <a:pPr>
              <a:spcBef>
                <a:spcPts val="600"/>
              </a:spcBef>
            </a:pPr>
            <a:r>
              <a:rPr sz="1400"/>
              <a:t>Melhoria contínua garantida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/>
              <a:t>"A implementação de um sistema de gestão informatizado representa uma solução eficaz para modernizar a Gráfica Finda N, reduzir erros, agilizar processos e elevar a qualidade do atendimento."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— Trabalho de Fim de Curso - IMTLA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